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webextensions/webextension1.xml" ContentType="application/vnd.ms-office.webextension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4" r:id="rId8"/>
    <p:sldId id="262" r:id="rId9"/>
    <p:sldId id="263" r:id="rId10"/>
    <p:sldId id="265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layfair Display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1F31D389-C2BB-9E3D-3D4F-90FA6FCA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>
            <a:extLst>
              <a:ext uri="{FF2B5EF4-FFF2-40B4-BE49-F238E27FC236}">
                <a16:creationId xmlns:a16="http://schemas.microsoft.com/office/drawing/2014/main" id="{7ED66D07-A802-ABC0-38D3-2D3D2AA55D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:notes">
            <a:extLst>
              <a:ext uri="{FF2B5EF4-FFF2-40B4-BE49-F238E27FC236}">
                <a16:creationId xmlns:a16="http://schemas.microsoft.com/office/drawing/2014/main" id="{2676B5DE-30F6-4A9D-6265-D5F3C687E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1972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7B27A1CA-60BD-0611-365B-84A8A63C6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>
            <a:extLst>
              <a:ext uri="{FF2B5EF4-FFF2-40B4-BE49-F238E27FC236}">
                <a16:creationId xmlns:a16="http://schemas.microsoft.com/office/drawing/2014/main" id="{7BE3A7A2-C7AC-808B-603B-7A2EB05292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:notes">
            <a:extLst>
              <a:ext uri="{FF2B5EF4-FFF2-40B4-BE49-F238E27FC236}">
                <a16:creationId xmlns:a16="http://schemas.microsoft.com/office/drawing/2014/main" id="{520F9CCE-7705-E0ED-CAA8-7E79B6878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364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microsoft.com/office/2011/relationships/webextension" Target="../webextensions/webextension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262" y="1171723"/>
            <a:ext cx="7991475" cy="451455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00538" y="1647973"/>
            <a:ext cx="7390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Match-3 Puzzle Game using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35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AI Search Algorithms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76512" y="3164234"/>
            <a:ext cx="70389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Inspired by Candy Crush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76512" y="3758505"/>
            <a:ext cx="70389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E2723"/>
                </a:solidFill>
                <a:latin typeface="Lato"/>
                <a:ea typeface="Lato"/>
                <a:cs typeface="Lato"/>
                <a:sym typeface="Lato"/>
              </a:rPr>
              <a:t>AI Course Project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619750" y="4409926"/>
            <a:ext cx="952500" cy="19050"/>
          </a:xfrm>
          <a:prstGeom prst="rect">
            <a:avLst/>
          </a:prstGeom>
          <a:solidFill>
            <a:srgbClr val="8D6E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576512" y="4714726"/>
            <a:ext cx="7038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762202"/>
            <a:ext cx="5229225" cy="1699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0502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295400" y="1711225"/>
            <a:ext cx="4514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Board:</a:t>
            </a:r>
            <a:r>
              <a:rPr lang="en-US" sz="1650" b="0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8×8 grid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1295400" y="2217836"/>
            <a:ext cx="4514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Candies: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5 colors (Red, Green, Blue, Yellow, Purple)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95400" y="3059608"/>
            <a:ext cx="4514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Valid Moves: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Swap two adjacent candies to form a match of 3+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295400" y="3901380"/>
            <a:ext cx="4514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End Condition: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Target score reached or all moves used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4952702"/>
            <a:ext cx="509063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Scoring Rules: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71525" y="5305127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3 candies → +30 points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71525" y="5627042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4 candies → +50 points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71525" y="5948957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5 candies → +80 points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900" y="2162175"/>
            <a:ext cx="5114925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81025" y="39677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Game Overview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81025" y="1149250"/>
            <a:ext cx="11029950" cy="28575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182552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332136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3173908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401568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536227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568419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6006107"/>
            <a:ext cx="1905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901505"/>
            <a:ext cx="1102995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305276" y="4091880"/>
            <a:ext cx="115814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Comparison Metrics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81025" y="2423219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E2723"/>
                </a:solidFill>
                <a:latin typeface="Lato"/>
                <a:ea typeface="Lato"/>
                <a:cs typeface="Lato"/>
                <a:sym typeface="Lato"/>
              </a:rPr>
              <a:t>Reach a target score of </a:t>
            </a:r>
            <a:r>
              <a:rPr lang="en-US" sz="2100" b="1" i="0" u="none" strike="noStrike" cap="none" dirty="0">
                <a:solidFill>
                  <a:srgbClr val="A1887F"/>
                </a:solidFill>
                <a:latin typeface="Lato"/>
                <a:ea typeface="Lato"/>
                <a:cs typeface="Lato"/>
                <a:sym typeface="Lato"/>
              </a:rPr>
              <a:t>600</a:t>
            </a:r>
            <a:r>
              <a:rPr lang="en-US" sz="2100" b="1" i="0" u="none" strike="noStrike" cap="none" dirty="0">
                <a:solidFill>
                  <a:srgbClr val="3E2723"/>
                </a:solidFill>
                <a:latin typeface="Lato"/>
                <a:ea typeface="Lato"/>
                <a:cs typeface="Lato"/>
                <a:sym typeface="Lato"/>
              </a:rPr>
              <a:t> in </a:t>
            </a:r>
            <a:r>
              <a:rPr lang="en-US" sz="2100" b="1" i="0" u="none" strike="noStrike" cap="none" dirty="0">
                <a:solidFill>
                  <a:srgbClr val="A1887F"/>
                </a:solidFill>
                <a:latin typeface="Lato"/>
                <a:ea typeface="Lato"/>
                <a:cs typeface="Lato"/>
                <a:sym typeface="Lato"/>
              </a:rPr>
              <a:t>15 moves</a:t>
            </a: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81025" y="3116609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Apply different AI search algorithms and compare performance.</a:t>
            </a:r>
            <a:endParaRPr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93056" y="5092005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1339899" y="5473005"/>
            <a:ext cx="83031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5D40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Score</a:t>
            </a:r>
            <a:endParaRPr/>
          </a:p>
        </p:txBody>
      </p:sp>
      <p:pic>
        <p:nvPicPr>
          <p:cNvPr id="152" name="Google Shape;15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6666" y="5092005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3307109" y="5473005"/>
            <a:ext cx="8810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5D40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Moves Used</a:t>
            </a:r>
            <a:endParaRPr/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26013" y="5092005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5325070" y="5473005"/>
            <a:ext cx="116383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5D40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Explored</a:t>
            </a:r>
            <a:endParaRPr/>
          </a:p>
        </p:txBody>
      </p:sp>
      <p:pic>
        <p:nvPicPr>
          <p:cNvPr id="156" name="Google Shape;15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77497" y="509200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7625804" y="5473005"/>
            <a:ext cx="115103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5D40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endParaRPr/>
          </a:p>
        </p:txBody>
      </p:sp>
      <p:pic>
        <p:nvPicPr>
          <p:cNvPr id="158" name="Google Shape;15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39821" y="509200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9913739" y="5473005"/>
            <a:ext cx="93806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5D40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 Rate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Objective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581025" y="1333500"/>
            <a:ext cx="11029950" cy="28575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72010"/>
            <a:ext cx="5229225" cy="3476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72010"/>
            <a:ext cx="5229225" cy="347602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71550" y="2662535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State Space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772275" y="2662535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Action Space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71968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1685925" y="3167360"/>
            <a:ext cx="37338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Definition: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Board configuration, current score, remaining moves.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685925" y="4009132"/>
            <a:ext cx="37338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Initial State: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Random board, Score = 0, Moves = 15.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685925" y="4850903"/>
            <a:ext cx="37338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Score ≥ 600.</a:t>
            </a:r>
            <a:endParaRPr/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71968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486650" y="3167360"/>
            <a:ext cx="37338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Actions: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Valid swaps producing matches.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486650" y="3673971"/>
            <a:ext cx="37338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Transitions: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Swap → Match detection → Replace → Score update → Move decrement.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486650" y="4850903"/>
            <a:ext cx="37338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Cost: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Each move = 1.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State &amp; Actions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81025" y="1333500"/>
            <a:ext cx="11029950" cy="28575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47800" y="328166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47800" y="412343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47800" y="4965203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48525" y="328166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48525" y="3788271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48525" y="4965203"/>
            <a:ext cx="1143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/>
          <p:nvPr/>
        </p:nvSpPr>
        <p:spPr>
          <a:xfrm>
            <a:off x="1408211" y="2171997"/>
            <a:ext cx="9375427" cy="620910"/>
          </a:xfrm>
          <a:prstGeom prst="roundRect">
            <a:avLst>
              <a:gd name="adj" fmla="val 18408"/>
            </a:avLst>
          </a:prstGeom>
          <a:solidFill>
            <a:srgbClr val="F3E5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1884461" y="2314872"/>
            <a:ext cx="870867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Breadth-First Search (BFS):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Explores level by level, ensures shortest solution.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1408211" y="2171997"/>
            <a:ext cx="57150" cy="620910"/>
          </a:xfrm>
          <a:prstGeom prst="rect">
            <a:avLst/>
          </a:prstGeom>
          <a:solidFill>
            <a:srgbClr val="8D6E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1408211" y="2935783"/>
            <a:ext cx="9375427" cy="620910"/>
          </a:xfrm>
          <a:prstGeom prst="roundRect">
            <a:avLst>
              <a:gd name="adj" fmla="val 18408"/>
            </a:avLst>
          </a:prstGeom>
          <a:solidFill>
            <a:srgbClr val="F3E5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1884461" y="3078658"/>
            <a:ext cx="870867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Depth-First Search (DFS):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Explores depth first, sometimes faster, may not be optimal.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1408211" y="2935783"/>
            <a:ext cx="57150" cy="620910"/>
          </a:xfrm>
          <a:prstGeom prst="rect">
            <a:avLst/>
          </a:prstGeom>
          <a:solidFill>
            <a:srgbClr val="8D6E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1408211" y="3699569"/>
            <a:ext cx="9375427" cy="620910"/>
          </a:xfrm>
          <a:prstGeom prst="roundRect">
            <a:avLst>
              <a:gd name="adj" fmla="val 18408"/>
            </a:avLst>
          </a:prstGeom>
          <a:solidFill>
            <a:srgbClr val="F3E5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1884461" y="3842444"/>
            <a:ext cx="870867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A* Search: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Uses heuristic for efficient search.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1408211" y="3699569"/>
            <a:ext cx="57150" cy="620910"/>
          </a:xfrm>
          <a:prstGeom prst="rect">
            <a:avLst/>
          </a:prstGeom>
          <a:solidFill>
            <a:srgbClr val="8D6E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1408211" y="4463355"/>
            <a:ext cx="9375427" cy="620910"/>
          </a:xfrm>
          <a:prstGeom prst="roundRect">
            <a:avLst>
              <a:gd name="adj" fmla="val 18408"/>
            </a:avLst>
          </a:prstGeom>
          <a:solidFill>
            <a:srgbClr val="F3E5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884461" y="4606230"/>
            <a:ext cx="870867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Hill Climbing: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Improves current state, may get stuck in local optima.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1408211" y="4463355"/>
            <a:ext cx="57150" cy="620910"/>
          </a:xfrm>
          <a:prstGeom prst="rect">
            <a:avLst/>
          </a:prstGeom>
          <a:solidFill>
            <a:srgbClr val="8D6E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1408211" y="5227141"/>
            <a:ext cx="9375427" cy="620910"/>
          </a:xfrm>
          <a:prstGeom prst="roundRect">
            <a:avLst>
              <a:gd name="adj" fmla="val 18408"/>
            </a:avLst>
          </a:prstGeom>
          <a:solidFill>
            <a:srgbClr val="F3E5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1884461" y="5370016"/>
            <a:ext cx="870867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Genetic Algorithm: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Population-based, crossover &amp; mutation, highest score &amp; success.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1408211" y="5227141"/>
            <a:ext cx="57150" cy="620910"/>
          </a:xfrm>
          <a:prstGeom prst="rect">
            <a:avLst/>
          </a:prstGeom>
          <a:solidFill>
            <a:srgbClr val="8D6E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Algorithms Implemented</a:t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581025" y="1333500"/>
            <a:ext cx="11029950" cy="28575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8711" y="236249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8711" y="3126283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8711" y="3890069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8711" y="465385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8711" y="5417641"/>
            <a:ext cx="1143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16409"/>
            <a:ext cx="3486150" cy="2398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516409"/>
            <a:ext cx="3486150" cy="2398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516409"/>
            <a:ext cx="3486150" cy="2398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90725" y="1764059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2089070" y="2573684"/>
            <a:ext cx="47005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BFS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1133475" y="3221384"/>
            <a:ext cx="2381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Complete, explores many nodes.</a:t>
            </a:r>
            <a:endParaRPr/>
          </a:p>
        </p:txBody>
      </p:sp>
      <p:pic>
        <p:nvPicPr>
          <p:cNvPr id="202" name="Google Shape;20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2625" y="1764059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5845968" y="2573684"/>
            <a:ext cx="5000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DFS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4767262" y="3221384"/>
            <a:ext cx="2657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Fast, but may miss optimal solution.</a:t>
            </a:r>
            <a:endParaRPr/>
          </a:p>
        </p:txBody>
      </p:sp>
      <p:pic>
        <p:nvPicPr>
          <p:cNvPr id="205" name="Google Shape;20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34525" y="1764059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9717881" y="2573684"/>
            <a:ext cx="3000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A*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601075" y="3221384"/>
            <a:ext cx="2533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Efficient, balances speed &amp; quality.</a:t>
            </a:r>
            <a:endParaRPr/>
          </a:p>
        </p:txBody>
      </p:sp>
      <p:pic>
        <p:nvPicPr>
          <p:cNvPr id="214" name="Google Shape;214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28837" y="1925984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67412" y="1925984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96450" y="1925984"/>
            <a:ext cx="342900" cy="342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A881EC-4FE3-CE0B-B27F-780DD2BE144E}"/>
              </a:ext>
            </a:extLst>
          </p:cNvPr>
          <p:cNvGrpSpPr/>
          <p:nvPr/>
        </p:nvGrpSpPr>
        <p:grpSpPr>
          <a:xfrm>
            <a:off x="1941613" y="4116392"/>
            <a:ext cx="3497014" cy="2398365"/>
            <a:chOff x="581025" y="4105275"/>
            <a:chExt cx="3497014" cy="2398365"/>
          </a:xfrm>
        </p:grpSpPr>
        <p:pic>
          <p:nvPicPr>
            <p:cNvPr id="197" name="Google Shape;197;p18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81025" y="4105275"/>
              <a:ext cx="3497014" cy="23983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18" descr="image.png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1996082" y="4352925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18"/>
            <p:cNvSpPr txBox="1"/>
            <p:nvPr/>
          </p:nvSpPr>
          <p:spPr>
            <a:xfrm>
              <a:off x="1519356" y="5162550"/>
              <a:ext cx="1620202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>
                  <a:solidFill>
                    <a:srgbClr val="3E2723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Hill Climbing</a:t>
              </a:r>
              <a:endParaRPr/>
            </a:p>
          </p:txBody>
        </p:sp>
        <p:sp>
          <p:nvSpPr>
            <p:cNvPr id="210" name="Google Shape;210;p18"/>
            <p:cNvSpPr txBox="1"/>
            <p:nvPr/>
          </p:nvSpPr>
          <p:spPr>
            <a:xfrm>
              <a:off x="1148357" y="5810250"/>
              <a:ext cx="2362200" cy="274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5D4037"/>
                  </a:solidFill>
                  <a:latin typeface="Lato"/>
                  <a:ea typeface="Lato"/>
                  <a:cs typeface="Lato"/>
                  <a:sym typeface="Lato"/>
                </a:rPr>
                <a:t>Quick, may fail to reach optimal.</a:t>
              </a:r>
              <a:endParaRPr/>
            </a:p>
          </p:txBody>
        </p:sp>
        <p:pic>
          <p:nvPicPr>
            <p:cNvPr id="217" name="Google Shape;217;p18" descr="image.png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158007" y="45148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3086D43-C299-7D8F-1679-CDAC85658941}"/>
              </a:ext>
            </a:extLst>
          </p:cNvPr>
          <p:cNvGrpSpPr/>
          <p:nvPr/>
        </p:nvGrpSpPr>
        <p:grpSpPr>
          <a:xfrm>
            <a:off x="6429375" y="4070444"/>
            <a:ext cx="3497014" cy="2398365"/>
            <a:chOff x="4363789" y="4105275"/>
            <a:chExt cx="3497014" cy="2398365"/>
          </a:xfrm>
        </p:grpSpPr>
        <p:pic>
          <p:nvPicPr>
            <p:cNvPr id="198" name="Google Shape;198;p18" descr="image.png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4363789" y="4105275"/>
              <a:ext cx="3497014" cy="23983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18" descr="image.png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5778847" y="4352925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18"/>
            <p:cNvSpPr txBox="1"/>
            <p:nvPr/>
          </p:nvSpPr>
          <p:spPr>
            <a:xfrm>
              <a:off x="5362128" y="5162550"/>
              <a:ext cx="1500187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>
                  <a:solidFill>
                    <a:srgbClr val="3E2723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Genetic Algo</a:t>
              </a:r>
              <a:endParaRPr/>
            </a:p>
          </p:txBody>
        </p:sp>
        <p:sp>
          <p:nvSpPr>
            <p:cNvPr id="213" name="Google Shape;213;p18"/>
            <p:cNvSpPr txBox="1"/>
            <p:nvPr/>
          </p:nvSpPr>
          <p:spPr>
            <a:xfrm>
              <a:off x="4788247" y="5810250"/>
              <a:ext cx="2647950" cy="677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60000"/>
                </a:lnSpc>
              </a:pPr>
              <a:r>
                <a:rPr lang="en-US" sz="1350" b="0" i="0" u="none" strike="noStrike" cap="none" dirty="0">
                  <a:solidFill>
                    <a:srgbClr val="5D4037"/>
                  </a:solidFill>
                  <a:latin typeface="Lato"/>
                  <a:ea typeface="Lato"/>
                  <a:cs typeface="Lato"/>
                  <a:sym typeface="Lato"/>
                </a:rPr>
                <a:t>Achieves highest score</a:t>
              </a:r>
              <a:r>
                <a:rPr lang="en-US" dirty="0">
                  <a:solidFill>
                    <a:srgbClr val="5D4037"/>
                  </a:solidFill>
                  <a:latin typeface="Lato"/>
                  <a:ea typeface="Lato"/>
                  <a:cs typeface="Lato"/>
                  <a:sym typeface="Lato"/>
                </a:rPr>
                <a:t> &amp;</a:t>
              </a:r>
              <a:r>
                <a:rPr lang="en-US" sz="1350" b="0" i="0" u="none" strike="noStrike" cap="none" dirty="0">
                  <a:solidFill>
                    <a:srgbClr val="5D4037"/>
                  </a:solidFill>
                  <a:latin typeface="Lato"/>
                  <a:ea typeface="Lato"/>
                  <a:cs typeface="Lato"/>
                  <a:sym typeface="Lato"/>
                </a:rPr>
                <a:t> consistently.</a:t>
              </a:r>
              <a:endParaRPr dirty="0"/>
            </a:p>
          </p:txBody>
        </p:sp>
        <p:pic>
          <p:nvPicPr>
            <p:cNvPr id="218" name="Google Shape;218;p18" descr="image.png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5959822" y="4514850"/>
              <a:ext cx="304800" cy="342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18"/>
          <p:cNvSpPr txBox="1"/>
          <p:nvPr/>
        </p:nvSpPr>
        <p:spPr>
          <a:xfrm>
            <a:off x="581025" y="354359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Algorithm Highlights</a:t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581025" y="1106834"/>
            <a:ext cx="11029950" cy="28575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224">
          <a:extLst>
            <a:ext uri="{FF2B5EF4-FFF2-40B4-BE49-F238E27FC236}">
              <a16:creationId xmlns:a16="http://schemas.microsoft.com/office/drawing/2014/main" id="{E698B712-103D-F8FF-F936-4D961625F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9" descr="image.png">
            <a:extLst>
              <a:ext uri="{FF2B5EF4-FFF2-40B4-BE49-F238E27FC236}">
                <a16:creationId xmlns:a16="http://schemas.microsoft.com/office/drawing/2014/main" id="{68049DB1-B2D1-5E41-B39A-B21182F6E1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>
            <a:extLst>
              <a:ext uri="{FF2B5EF4-FFF2-40B4-BE49-F238E27FC236}">
                <a16:creationId xmlns:a16="http://schemas.microsoft.com/office/drawing/2014/main" id="{C7ED0B9C-B39A-D633-1BD6-F7D1C8C41B38}"/>
              </a:ext>
            </a:extLst>
          </p:cNvPr>
          <p:cNvSpPr txBox="1"/>
          <p:nvPr/>
        </p:nvSpPr>
        <p:spPr>
          <a:xfrm>
            <a:off x="581025" y="581025"/>
            <a:ext cx="1158144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3E2723"/>
                </a:solidFill>
                <a:latin typeface="Playfair Display"/>
                <a:sym typeface="Playfair Display"/>
              </a:rPr>
              <a:t>Visualization</a:t>
            </a:r>
            <a:endParaRPr dirty="0"/>
          </a:p>
        </p:txBody>
      </p:sp>
      <p:sp>
        <p:nvSpPr>
          <p:cNvPr id="232" name="Google Shape;232;p19">
            <a:extLst>
              <a:ext uri="{FF2B5EF4-FFF2-40B4-BE49-F238E27FC236}">
                <a16:creationId xmlns:a16="http://schemas.microsoft.com/office/drawing/2014/main" id="{651A282A-EDB2-8D16-1C42-2E276F4510F4}"/>
              </a:ext>
            </a:extLst>
          </p:cNvPr>
          <p:cNvSpPr/>
          <p:nvPr/>
        </p:nvSpPr>
        <p:spPr>
          <a:xfrm>
            <a:off x="581025" y="1333500"/>
            <a:ext cx="11029950" cy="28575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28C45409-551C-E9CA-7B97-BD72849824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7277768"/>
                  </p:ext>
                </p:extLst>
              </p:nvPr>
            </p:nvGraphicFramePr>
            <p:xfrm>
              <a:off x="581024" y="1480782"/>
              <a:ext cx="11029949" cy="521701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28C45409-551C-E9CA-7B97-BD72849824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1024" y="1480782"/>
                <a:ext cx="11029949" cy="52170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141945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85442"/>
            <a:ext cx="11029950" cy="284916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/>
          <p:nvPr/>
        </p:nvSpPr>
        <p:spPr>
          <a:xfrm>
            <a:off x="1295400" y="2737842"/>
            <a:ext cx="4514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BFS &amp; DFS:</a:t>
            </a:r>
            <a:r>
              <a:rPr lang="en-US" sz="1650" b="0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Explore many nodes, BFS guarantees solution.</a:t>
            </a:r>
            <a:endParaRPr dirty="0"/>
          </a:p>
        </p:txBody>
      </p:sp>
      <p:sp>
        <p:nvSpPr>
          <p:cNvPr id="228" name="Google Shape;228;p19"/>
          <p:cNvSpPr txBox="1"/>
          <p:nvPr/>
        </p:nvSpPr>
        <p:spPr>
          <a:xfrm>
            <a:off x="1295400" y="3579614"/>
            <a:ext cx="4514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A*:</a:t>
            </a:r>
            <a:r>
              <a:rPr lang="en-US" sz="1650" b="0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Most efficient for small boards.</a:t>
            </a:r>
            <a:endParaRPr dirty="0"/>
          </a:p>
        </p:txBody>
      </p:sp>
      <p:sp>
        <p:nvSpPr>
          <p:cNvPr id="229" name="Google Shape;229;p19"/>
          <p:cNvSpPr txBox="1"/>
          <p:nvPr/>
        </p:nvSpPr>
        <p:spPr>
          <a:xfrm>
            <a:off x="1295400" y="4086225"/>
            <a:ext cx="4514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Hill Climbing:</a:t>
            </a:r>
            <a:r>
              <a:rPr lang="en-US" sz="1650" b="0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Fast, may not reach optimal.</a:t>
            </a:r>
            <a:endParaRPr dirty="0"/>
          </a:p>
        </p:txBody>
      </p:sp>
      <p:sp>
        <p:nvSpPr>
          <p:cNvPr id="230" name="Google Shape;230;p19"/>
          <p:cNvSpPr txBox="1"/>
          <p:nvPr/>
        </p:nvSpPr>
        <p:spPr>
          <a:xfrm>
            <a:off x="1295400" y="4592835"/>
            <a:ext cx="4514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Genetic Algorithm:</a:t>
            </a:r>
            <a:r>
              <a:rPr lang="en-US" sz="1650" b="0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Highest score &amp; success consistently.</a:t>
            </a:r>
            <a:endParaRPr dirty="0"/>
          </a:p>
        </p:txBody>
      </p:sp>
      <p:sp>
        <p:nvSpPr>
          <p:cNvPr id="231" name="Google Shape;231;p19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Evaluation Summary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581025" y="1333500"/>
            <a:ext cx="11029950" cy="28575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285214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3693914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420052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4707135"/>
            <a:ext cx="1143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86210"/>
            <a:ext cx="5229225" cy="222304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551056" y="1871960"/>
            <a:ext cx="489061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Best Algorithm</a:t>
            </a:r>
            <a:endParaRPr dirty="0"/>
          </a:p>
        </p:txBody>
      </p:sp>
      <p:sp>
        <p:nvSpPr>
          <p:cNvPr id="245" name="Google Shape;245;p20"/>
          <p:cNvSpPr txBox="1"/>
          <p:nvPr/>
        </p:nvSpPr>
        <p:spPr>
          <a:xfrm>
            <a:off x="6667500" y="2433935"/>
            <a:ext cx="46577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Genetic Algorithm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667500" y="3028205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(Highest score &amp; success rate)</a:t>
            </a:r>
            <a:endParaRPr dirty="0"/>
          </a:p>
        </p:txBody>
      </p:sp>
      <p:sp>
        <p:nvSpPr>
          <p:cNvPr id="247" name="Google Shape;247;p20"/>
          <p:cNvSpPr txBox="1"/>
          <p:nvPr/>
        </p:nvSpPr>
        <p:spPr>
          <a:xfrm>
            <a:off x="7096125" y="4095005"/>
            <a:ext cx="4514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BFS/DFS: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Guaranteed, slower.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7096125" y="4601616"/>
            <a:ext cx="4514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Hill Climbing:</a:t>
            </a:r>
            <a:r>
              <a:rPr lang="en-US" sz="1650" b="0" i="0" u="none" strike="noStrike" cap="none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Fast, may miss optimum.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7096125" y="5108227"/>
            <a:ext cx="4514850" cy="115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A*:</a:t>
            </a:r>
            <a:r>
              <a:rPr lang="en-US" sz="1650" b="0" i="0" u="none" strike="noStrike" cap="none" dirty="0">
                <a:solidFill>
                  <a:srgbClr val="5D4037"/>
                </a:solidFill>
                <a:latin typeface="Lato"/>
                <a:ea typeface="Lato"/>
                <a:cs typeface="Lato"/>
                <a:sym typeface="Lato"/>
              </a:rPr>
              <a:t> Good balance of efficiency &amp; solution quality.</a:t>
            </a:r>
            <a:endParaRPr lang="ar-EG" sz="1650" b="0" i="0" u="none" strike="noStrike" cap="none" dirty="0">
              <a:solidFill>
                <a:srgbClr val="5D4037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D3B0EF3-5A4E-9889-4B90-7E7F2C548712}"/>
              </a:ext>
            </a:extLst>
          </p:cNvPr>
          <p:cNvGrpSpPr/>
          <p:nvPr/>
        </p:nvGrpSpPr>
        <p:grpSpPr>
          <a:xfrm>
            <a:off x="6381750" y="5833320"/>
            <a:ext cx="5229225" cy="609600"/>
            <a:chOff x="6381750" y="5633888"/>
            <a:chExt cx="5229225" cy="609600"/>
          </a:xfrm>
        </p:grpSpPr>
        <p:sp>
          <p:nvSpPr>
            <p:cNvPr id="243" name="Google Shape;243;p20"/>
            <p:cNvSpPr txBox="1"/>
            <p:nvPr/>
          </p:nvSpPr>
          <p:spPr>
            <a:xfrm>
              <a:off x="6381750" y="5633888"/>
              <a:ext cx="52292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3E2723"/>
                  </a:solidFill>
                  <a:latin typeface="Lato"/>
                  <a:ea typeface="Lato"/>
                  <a:cs typeface="Lato"/>
                  <a:sym typeface="Lato"/>
                </a:rPr>
                <a:t>Recommendation: Use Genetic or A* for larger boards or optimization problems.</a:t>
              </a:r>
              <a:endParaRPr dirty="0"/>
            </a:p>
          </p:txBody>
        </p:sp>
        <p:pic>
          <p:nvPicPr>
            <p:cNvPr id="250" name="Google Shape;250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81750" y="5700563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1" name="Google Shape;25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58137" y="1929110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0"/>
          <p:cNvSpPr txBox="1"/>
          <p:nvPr/>
        </p:nvSpPr>
        <p:spPr>
          <a:xfrm>
            <a:off x="581025" y="424160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 &amp; Recommendations</a:t>
            </a:r>
            <a:endParaRPr dirty="0"/>
          </a:p>
        </p:txBody>
      </p:sp>
      <p:sp>
        <p:nvSpPr>
          <p:cNvPr id="253" name="Google Shape;253;p20"/>
          <p:cNvSpPr/>
          <p:nvPr/>
        </p:nvSpPr>
        <p:spPr>
          <a:xfrm>
            <a:off x="581025" y="1176635"/>
            <a:ext cx="11029950" cy="28575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8000" y="420930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8000" y="4715916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8000" y="522252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Detailed Image Prompt (English)&#10;&#10;A futuristic AI-themed illustration showing robotic hands interacting with a tablet displaying a Candy Crush–style match-3 puzzle game.&#10;&#10;The tablet is held in mid-air by sleek white robotic hands, with visible mechanical joints and smooth futuristic design.&#10;&#10;🎮 Game Interface&#10;&#10;The screen shows a match-3 puzzle board&#10;&#10;Colorful candy-shaped tiles:&#10;&#10;Jelly beans&#10;&#10;Hearts&#10;&#10;Stars&#10;&#10;Coins&#10;&#10;Rounded icons with soft highlights&#10;&#10;Clean, modern game UI&#10;&#10;Subtle HUD elements and score indicators&#10;&#10;🎨 Color Palette &amp; Mood&#10;&#10;Warm brown and chocolate background&#10;&#10;Earthy tones: beige, cream, soft orange, caramel&#10;&#10;Candy colors are vibrant but muted, not neon&#10;&#10;Overall cozy, elegant, and academic feel&#10;&#10;🌿 Background&#10;&#10;Minimal background with soft botanical leaf patterns&#10;&#10;Flat illustration style&#10;&#10;No clutter, strong focus on tablet and hands&#10;&#10;🧠 Theme&#10;&#10;Concept represents Artificial Intelligence playing or analyzing a game&#10;&#10;Symbolizes AI decision-making in puzzle games&#10;&#10;Mix of technology and playful gaming&#10;&#10;🎨 Art Style&#10;&#10;High-quality digital illustration&#10;&#10;Semi-flat / vector style&#10;&#10;Soft shadows&#10;&#10;Smooth gradients&#10;&#10;Clean outlines&#10;&#10;No photorealism&#10;&#10;📐 Composition&#10;&#10;Centered tablet&#10;&#10;Hands entering frame from left and right&#10;&#10;Balanced symmetry&#10;&#10;16:9 aspect ratio&#10;&#10;🚫 Restrictions&#10;&#10;No humans&#10;&#10;No text overlays&#10;&#10;No logos&#10;&#10;No watermark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1025" y="2205325"/>
            <a:ext cx="5541175" cy="347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224">
          <a:extLst>
            <a:ext uri="{FF2B5EF4-FFF2-40B4-BE49-F238E27FC236}">
              <a16:creationId xmlns:a16="http://schemas.microsoft.com/office/drawing/2014/main" id="{487481FA-C074-9B66-60F9-BA669BF6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>
            <a:extLst>
              <a:ext uri="{FF2B5EF4-FFF2-40B4-BE49-F238E27FC236}">
                <a16:creationId xmlns:a16="http://schemas.microsoft.com/office/drawing/2014/main" id="{1B8C0B3A-1DAF-A90F-A24C-BD4DB3CD65C1}"/>
              </a:ext>
            </a:extLst>
          </p:cNvPr>
          <p:cNvSpPr/>
          <p:nvPr/>
        </p:nvSpPr>
        <p:spPr>
          <a:xfrm>
            <a:off x="474118" y="644288"/>
            <a:ext cx="11029950" cy="28575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32;p19">
            <a:extLst>
              <a:ext uri="{FF2B5EF4-FFF2-40B4-BE49-F238E27FC236}">
                <a16:creationId xmlns:a16="http://schemas.microsoft.com/office/drawing/2014/main" id="{0F2A3846-94AB-D61A-12F3-8993EC0BF559}"/>
              </a:ext>
            </a:extLst>
          </p:cNvPr>
          <p:cNvSpPr/>
          <p:nvPr/>
        </p:nvSpPr>
        <p:spPr>
          <a:xfrm>
            <a:off x="474118" y="6562867"/>
            <a:ext cx="11029950" cy="28575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3BD6D-2076-B758-4127-9235B829AEC2}"/>
              </a:ext>
            </a:extLst>
          </p:cNvPr>
          <p:cNvSpPr txBox="1"/>
          <p:nvPr/>
        </p:nvSpPr>
        <p:spPr>
          <a:xfrm>
            <a:off x="3132160" y="3050151"/>
            <a:ext cx="553133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3E2723"/>
                </a:solidFill>
                <a:latin typeface="Playfair Display"/>
                <a:sym typeface="Playfair Display"/>
              </a:rPr>
              <a:t>Thank You🤎</a:t>
            </a:r>
            <a:endParaRPr lang="en-US" sz="6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35649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webextension1.xml><?xml version="1.0" encoding="utf-8"?>
<we:webextension xmlns:we="http://schemas.microsoft.com/office/webextensions/webextension/2010/11" id="{316799CC-34D3-437E-ABFC-7AF59995B844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8F5&quot;"/>
    <we:property name="bookmark" value="&quot;H4sIAAAAAAAAA+1XTW/bMAz9K4MuvQSDv2P11mbdaRiKdehlCAJaol21imVIctcsyH8fLWfdWnQt0LVDAjQnm2TIR/JJJtdMKtdpWH2GJbJDdmzM1RLs1buYTVg7yjKo6mTKeSyLqkyLREQ8J63pvDKtY4dr5sE26M+V60EPjkj4bT5hoPUpNMNbDdrhhHVonWlBqx84GpPK2x43E4Y3nTYWBpdnHjwObq/JnN4JQvw+pYggvLrGMxR+lBaVLLNMZGXNM8njOklFQWZuNAjIHjQZXIfwM9N6UC2FGWSUW5THaR2l8TQXSYGQpIO8VtpvTarVyU1nKTvKedUNxZkR1sZYJUCzkIVFN4Jes5nR/TI8ndyRn5neCvyCdVC1XvkVeQI9+PEXS7cg2157xzZUmFNrqGx3LYLiwnyfWaTwkh1GmzlJnGobva3s7yS/jkCdVgLt0LfqkgoU0lki9W14kOAhZNWN0RSOeiODGkPSa/ZJUSFG3+eg+8HtwTE4JQ4IEf3mA66xSwT78o8+BHMXQrxmVQgAKWUBkGRZApxDxWMBEUR708jJLaIjeQ2tIOl9OEdNY7EBv309eVWsXi1xQUcqyD/27fbwRc+goKajNrsA6++wkP5lrER7vArt+KDsrwOeTO7lsCOJb+Z/YfmWQ6v/xPM05iDqiGdRHSdJzrOqjN94/kystaIP08IJY/EFqF6B3R+mP5r6rpC9nsoCp0kJZS1jmQgpU/5G9mdibenD7hbjzEVY/p3v0rS93x/GP5X/rpCeR5hDWpV1BVKKmGclPj3J7AbFXvY+FWDlVrUP/HriRg33WVHEIs+mNKrmosSaptR8T1r7giPhnvX1sZkwbEAPr1em964DgafQ4gNrFrUSWjlU7NFVKyzRt4vWZvMTzlZmtrwPAAA=&quot;"/>
    <we:property name="creatorSessionId" value="&quot;61998757-5ed8-48ee-ad25-91ec297a31b3&quot;"/>
    <we:property name="creatorTenantId" value="&quot;a2c31985-cc3b-4e19-8fa2-59fa488f0c27&quot;"/>
    <we:property name="creatorUserId" value="&quot;10032002FDDFD147&quot;"/>
    <we:property name="datasetId" value="&quot;9d3d03ba-b864-4f59-8cd8-8d55c5e4667e&quot;"/>
    <we:property name="embedUrl" value="&quot;/reportEmbed?reportId=08801ec9-9d69-4e68-8a4e-68d549251280&amp;groupId=d6aad480-fd80-4e4b-9f7f-dbab4afbe493&amp;w=2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initialStateBookmark" value="&quot;H4sIAAAAAAAAA+1XS2/bMAz+K4MuvQSD37FzS7Ps0vWBduhlCAJaklO1imVIctcsyH8fJXvdWnQN0LVDAjQnm2TIj+QnmVwTJkwjYXUCS05G5FCpmyXomw8hGZC6l52eHh2Pz4/mJ+PjKYpVY4WqDRmtiQW94PZSmBak84DCb7MBASnPYOHeKpCGD0jDtVE1SPGDd8aosrrlmwHhd41UGpzLCwuWO7e3aI7vGDv8GGNEoFbc8gtObSfNSpYnCU3yqkhYEVZRTDM0M52BR/akiXPtw09UbUHUGMbJ8jgL0jCugjgcpjTKOESxk1dC2t6kXE3vGo3ZYc6rxlVlglgXSgsKkvgsNDcd6DWZKNku/dP0gfxCtZryc155VW2FXaEnkM6PvVqaOdq20hqywcKcaYVle2jhFVfq+0RzDM/IKNjMUGJEvZB9ZX8n+bUDaqSgXLu+lddYIJ/OkmPf3AMDCz6rposmeKdXzKu5T3pNvggsROf7EmTr3B4cghH0ABHhb+ZwdV1C2Nd/9MGbGx/iLauCAFDJMoAoSSIoCiiLkEIAwd40cnCPaMxuoaYofQxnvFhovgDbv07fFKsVSz7HI+Xln9u6P3zBCygo8ahNrkDbByzEfynNuD5c+XZ8EvrXAY8Gj3LYkcQ3s7+wvOfQ6j/xPA4LoFVQJEEVRlFaJGUevvP8hVgrgR+muaFK81egegl6f5j+bOq7QvZqyDI+jHLIKxayiDIWF+9kfyHWGj/sZt7NXIjl3/nOVN3a/WH8tvx3hfRFwFOIy7wqgTEaFknOt08yu0Gx171PKWjWq/aBX1tuVH+fZVlI02SIo2pKc17hlJruSWtfcSTcs74+NxP6Dejp9Uq11jRA+RnU/Ik1C1sJNXMVe3bV8ks08UGwhqKU23Yzt1rfL2abzU80z7zx5Q8AAA==&quot;"/>
    <we:property name="isFiltersActionButtonVisible" value="true"/>
    <we:property name="isVisualContainerHeaderHidden" value="false"/>
    <we:property name="pageDisplayName" value="&quot;Page 1&quot;"/>
    <we:property name="pageName" value="&quot;6bd844c48f94d91f23c6&quot;"/>
    <we:property name="reportEmbeddedTime" value="&quot;2025-12-19T14:07:33.653Z&quot;"/>
    <we:property name="reportName" value="&quot;presentation&quot;"/>
    <we:property name="reportState" value="&quot;CONNECTED&quot;"/>
    <we:property name="reportUrl" value="&quot;/groups/d6aad480-fd80-4e4b-9f7f-dbab4afbe493/reports/08801ec9-9d69-4e68-8a4e-68d549251280/6bd844c48f94d91f23c6?bookmarkGuid=5945b192-7d43-420f-a071-15c285fedeff&amp;bookmarkUsage=1&amp;ctid=a2c31985-cc3b-4e19-8fa2-59fa488f0c27&amp;fromEntryPoint=export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397</Words>
  <Application>Microsoft Office PowerPoint</Application>
  <PresentationFormat>Widescreen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Playfair Display</vt:lpstr>
      <vt:lpstr>Times New Roman</vt:lpstr>
      <vt:lpstr>Calibri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Salma</dc:creator>
  <cp:lastModifiedBy>سلمى محمد محمد رشاد الكشك</cp:lastModifiedBy>
  <cp:revision>3</cp:revision>
  <dcterms:modified xsi:type="dcterms:W3CDTF">2025-12-19T14:25:29Z</dcterms:modified>
</cp:coreProperties>
</file>